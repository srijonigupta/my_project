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8" r:id="rId2"/>
    <p:sldId id="257" r:id="rId3"/>
    <p:sldId id="258" r:id="rId4"/>
    <p:sldId id="272" r:id="rId5"/>
    <p:sldId id="259" r:id="rId6"/>
    <p:sldId id="270" r:id="rId7"/>
    <p:sldId id="269" r:id="rId8"/>
    <p:sldId id="260" r:id="rId9"/>
    <p:sldId id="261" r:id="rId10"/>
    <p:sldId id="262" r:id="rId11"/>
    <p:sldId id="263" r:id="rId12"/>
    <p:sldId id="264" r:id="rId13"/>
    <p:sldId id="265" r:id="rId14"/>
    <p:sldId id="266" r:id="rId15"/>
  </p:sldIdLst>
  <p:sldSz cx="9144000" cy="5143500" type="screen16x9"/>
  <p:notesSz cx="5143500" cy="9144000"/>
  <p:custDataLst>
    <p:tags r:id="rId17"/>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5C0"/>
    <a:srgbClr val="FDF3ED"/>
    <a:srgbClr val="CEE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4" d="100"/>
          <a:sy n="94" d="100"/>
        </p:scale>
        <p:origin x="696" y="102"/>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notesSlide" Target="../notesSlides/notesSlide1.xml"/><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4.sv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hyperlink" Target="https://drive.google.com/drive/folders/1cLfXVnzroVGITwH7DL3bzR9n97L4IDyP"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275038" y="630986"/>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4902803"/>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373417" y="2687476"/>
            <a:ext cx="4927732" cy="485021"/>
            <a:chOff x="0" y="2985846"/>
            <a:chExt cx="4276134" cy="664477"/>
          </a:xfrm>
        </p:grpSpPr>
        <p:sp>
          <p:nvSpPr>
            <p:cNvPr id="30" name="TextBox 30">
              <a:extLst>
                <a:ext uri="{FF2B5EF4-FFF2-40B4-BE49-F238E27FC236}">
                  <a16:creationId xmlns:a16="http://schemas.microsoft.com/office/drawing/2014/main" id="{199C1F1F-4C5C-E8C0-1593-D5C9F6952716}"/>
                </a:ext>
              </a:extLst>
            </p:cNvPr>
            <p:cNvSpPr txBox="1"/>
            <p:nvPr/>
          </p:nvSpPr>
          <p:spPr>
            <a:xfrm>
              <a:off x="0" y="2985846"/>
              <a:ext cx="4113485" cy="431082"/>
            </a:xfrm>
            <a:prstGeom prst="rect">
              <a:avLst/>
            </a:prstGeom>
          </p:spPr>
          <p:txBody>
            <a:bodyPr lIns="25400" tIns="25400" rIns="25400" bIns="25400" rtlCol="0" anchor="ctr"/>
            <a:lstStyle/>
            <a:p>
              <a:pPr algn="ctr">
                <a:lnSpc>
                  <a:spcPts val="1330"/>
                </a:lnSpc>
              </a:pPr>
              <a:endParaRPr sz="700"/>
            </a:p>
          </p:txBody>
        </p:sp>
        <p:sp>
          <p:nvSpPr>
            <p:cNvPr id="44" name="TextBox 44">
              <a:extLst>
                <a:ext uri="{FF2B5EF4-FFF2-40B4-BE49-F238E27FC236}">
                  <a16:creationId xmlns:a16="http://schemas.microsoft.com/office/drawing/2014/main" id="{3578161E-D839-4793-89CB-83A287A2849E}"/>
                </a:ext>
              </a:extLst>
            </p:cNvPr>
            <p:cNvSpPr txBox="1"/>
            <p:nvPr/>
          </p:nvSpPr>
          <p:spPr>
            <a:xfrm>
              <a:off x="466725" y="3426736"/>
              <a:ext cx="3809409" cy="223587"/>
            </a:xfrm>
            <a:prstGeom prst="rect">
              <a:avLst/>
            </a:prstGeom>
          </p:spPr>
          <p:txBody>
            <a:bodyPr lIns="0" tIns="0" rIns="0" bIns="0" rtlCol="0" anchor="t">
              <a:spAutoFit/>
            </a:bodyPr>
            <a:lstStyle/>
            <a:p>
              <a:pPr>
                <a:lnSpc>
                  <a:spcPts val="1943"/>
                </a:lnSpc>
              </a:pPr>
              <a:endParaRPr lang="en-US" sz="1200" b="1" spc="583" dirty="0">
                <a:solidFill>
                  <a:srgbClr val="FFFFFF"/>
                </a:solidFill>
                <a:latin typeface="Arial" panose="020B0604020202020204" pitchFamily="34" charset="0"/>
                <a:ea typeface="Aileron Bold"/>
                <a:cs typeface="Arial" panose="020B0604020202020204" pitchFamily="34" charset="0"/>
                <a:sym typeface="Aileron Bold"/>
              </a:endParaRPr>
            </a:p>
          </p:txBody>
        </p:sp>
      </p:gr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3416508" y="3782259"/>
            <a:ext cx="395331" cy="381795"/>
          </a:xfrm>
          <a:prstGeom prst="rect">
            <a:avLst/>
          </a:prstGeom>
        </p:spPr>
      </p:pic>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3448860" y="4329468"/>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443226" y="3825853"/>
            <a:ext cx="2509805" cy="455685"/>
            <a:chOff x="2690678" y="3940725"/>
            <a:chExt cx="2272871" cy="349586"/>
          </a:xfrm>
        </p:grpSpPr>
        <p:sp>
          <p:nvSpPr>
            <p:cNvPr id="67" name="TextBox 41">
              <a:extLst>
                <a:ext uri="{FF2B5EF4-FFF2-40B4-BE49-F238E27FC236}">
                  <a16:creationId xmlns:a16="http://schemas.microsoft.com/office/drawing/2014/main" id="{5FE6F280-D970-382B-5260-25E219F86722}"/>
                </a:ext>
              </a:extLst>
            </p:cNvPr>
            <p:cNvSpPr txBox="1"/>
            <p:nvPr/>
          </p:nvSpPr>
          <p:spPr>
            <a:xfrm>
              <a:off x="2817222" y="3940725"/>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2690678" y="4115831"/>
              <a:ext cx="2272871" cy="174480"/>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Guide Name: Umamaheshwari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185509" y="3720290"/>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494316" y="1096875"/>
            <a:ext cx="3239310" cy="1554439"/>
          </a:xfrm>
          <a:prstGeom prst="rect">
            <a:avLst/>
          </a:prstGeom>
        </p:spPr>
      </p:pic>
      <p:sp>
        <p:nvSpPr>
          <p:cNvPr id="27" name="TextBox 26">
            <a:extLst>
              <a:ext uri="{FF2B5EF4-FFF2-40B4-BE49-F238E27FC236}">
                <a16:creationId xmlns:a16="http://schemas.microsoft.com/office/drawing/2014/main" id="{B2202300-FC1C-8E3B-CB97-E48EC16A4CF7}"/>
              </a:ext>
            </a:extLst>
          </p:cNvPr>
          <p:cNvSpPr txBox="1"/>
          <p:nvPr/>
        </p:nvSpPr>
        <p:spPr>
          <a:xfrm>
            <a:off x="911379" y="2758455"/>
            <a:ext cx="3116628" cy="369332"/>
          </a:xfrm>
          <a:prstGeom prst="rect">
            <a:avLst/>
          </a:prstGeom>
          <a:noFill/>
        </p:spPr>
        <p:txBody>
          <a:bodyPr wrap="square">
            <a:spAutoFit/>
          </a:bodyPr>
          <a:lstStyle/>
          <a:p>
            <a:pPr algn="ctr"/>
            <a:r>
              <a:rPr lang="en-IN" b="1" dirty="0">
                <a:solidFill>
                  <a:schemeClr val="bg1"/>
                </a:solidFill>
              </a:rPr>
              <a:t>PRESENTATION 2026</a:t>
            </a:r>
          </a:p>
        </p:txBody>
      </p:sp>
      <p:pic>
        <p:nvPicPr>
          <p:cNvPr id="37" name="Picture 36">
            <a:extLst>
              <a:ext uri="{FF2B5EF4-FFF2-40B4-BE49-F238E27FC236}">
                <a16:creationId xmlns:a16="http://schemas.microsoft.com/office/drawing/2014/main" id="{6F3515B0-1652-D426-63D5-22DC8CD53F6A}"/>
              </a:ext>
            </a:extLst>
          </p:cNvPr>
          <p:cNvPicPr>
            <a:picLocks noChangeAspect="1"/>
          </p:cNvPicPr>
          <p:nvPr/>
        </p:nvPicPr>
        <p:blipFill>
          <a:blip r:embed="rId11"/>
          <a:stretch>
            <a:fillRect/>
          </a:stretch>
        </p:blipFill>
        <p:spPr>
          <a:xfrm>
            <a:off x="100214" y="2730536"/>
            <a:ext cx="3988717" cy="374122"/>
          </a:xfrm>
          <a:prstGeom prst="rect">
            <a:avLst/>
          </a:prstGeom>
        </p:spPr>
      </p:pic>
      <p:sp>
        <p:nvSpPr>
          <p:cNvPr id="38" name="TextBox 37">
            <a:extLst>
              <a:ext uri="{FF2B5EF4-FFF2-40B4-BE49-F238E27FC236}">
                <a16:creationId xmlns:a16="http://schemas.microsoft.com/office/drawing/2014/main" id="{27E6BFE0-5718-FECB-586E-5C4E70ADCF04}"/>
              </a:ext>
            </a:extLst>
          </p:cNvPr>
          <p:cNvSpPr txBox="1"/>
          <p:nvPr/>
        </p:nvSpPr>
        <p:spPr>
          <a:xfrm>
            <a:off x="189009" y="2756922"/>
            <a:ext cx="3544617" cy="307777"/>
          </a:xfrm>
          <a:prstGeom prst="rect">
            <a:avLst/>
          </a:prstGeom>
          <a:noFill/>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PRESENTATION 2026</a:t>
            </a:r>
            <a:endParaRPr lang="en-IN" sz="1400" b="1" dirty="0">
              <a:solidFill>
                <a:schemeClr val="bg1"/>
              </a:solidFill>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D12D45ED-43AE-BEC0-3F19-8732378125C2}"/>
              </a:ext>
            </a:extLst>
          </p:cNvPr>
          <p:cNvSpPr txBox="1"/>
          <p:nvPr/>
        </p:nvSpPr>
        <p:spPr>
          <a:xfrm>
            <a:off x="591433" y="3244828"/>
            <a:ext cx="4793981" cy="307777"/>
          </a:xfrm>
          <a:prstGeom prst="rect">
            <a:avLst/>
          </a:prstGeom>
          <a:noFill/>
        </p:spPr>
        <p:txBody>
          <a:bodyPr wrap="square" rtlCol="0">
            <a:spAutoFit/>
          </a:bodyPr>
          <a:lstStyle/>
          <a:p>
            <a:pPr algn="ctr"/>
            <a:r>
              <a:rPr lang="en-US" sz="1400" b="1" dirty="0">
                <a:solidFill>
                  <a:srgbClr val="0070C0"/>
                </a:solidFill>
                <a:latin typeface="Arial" panose="020B0604020202020204" pitchFamily="34" charset="0"/>
                <a:cs typeface="Arial" panose="020B0604020202020204" pitchFamily="34" charset="0"/>
              </a:rPr>
              <a:t>Crystal Pay: Clean Data, Clear Financial Decisions</a:t>
            </a:r>
            <a:endParaRPr lang="en-IN" sz="1400" b="1" dirty="0">
              <a:solidFill>
                <a:srgbClr val="0070C0"/>
              </a:solidFill>
              <a:latin typeface="Arial" panose="020B0604020202020204" pitchFamily="34" charset="0"/>
              <a:cs typeface="Arial" panose="020B0604020202020204" pitchFamily="34" charset="0"/>
            </a:endParaRPr>
          </a:p>
        </p:txBody>
      </p:sp>
      <p:pic>
        <p:nvPicPr>
          <p:cNvPr id="48" name="Picture 47">
            <a:extLst>
              <a:ext uri="{FF2B5EF4-FFF2-40B4-BE49-F238E27FC236}">
                <a16:creationId xmlns:a16="http://schemas.microsoft.com/office/drawing/2014/main" id="{8FEF31C6-29C1-437C-EE52-AD321FF3BEEF}"/>
              </a:ext>
            </a:extLst>
          </p:cNvPr>
          <p:cNvPicPr>
            <a:picLocks noChangeAspect="1"/>
          </p:cNvPicPr>
          <p:nvPr/>
        </p:nvPicPr>
        <p:blipFill>
          <a:blip r:embed="rId12"/>
          <a:stretch>
            <a:fillRect/>
          </a:stretch>
        </p:blipFill>
        <p:spPr>
          <a:xfrm>
            <a:off x="3892809" y="4274701"/>
            <a:ext cx="1889924" cy="268247"/>
          </a:xfrm>
          <a:prstGeom prst="rect">
            <a:avLst/>
          </a:prstGeom>
        </p:spPr>
      </p:pic>
      <p:sp>
        <p:nvSpPr>
          <p:cNvPr id="53" name="TextBox 52">
            <a:extLst>
              <a:ext uri="{FF2B5EF4-FFF2-40B4-BE49-F238E27FC236}">
                <a16:creationId xmlns:a16="http://schemas.microsoft.com/office/drawing/2014/main" id="{9B07A018-2851-E85D-D60A-5240B219CD52}"/>
              </a:ext>
            </a:extLst>
          </p:cNvPr>
          <p:cNvSpPr txBox="1"/>
          <p:nvPr/>
        </p:nvSpPr>
        <p:spPr>
          <a:xfrm>
            <a:off x="3876399" y="4498632"/>
            <a:ext cx="2228401" cy="276999"/>
          </a:xfrm>
          <a:prstGeom prst="rect">
            <a:avLst/>
          </a:prstGeom>
          <a:noFill/>
        </p:spPr>
        <p:txBody>
          <a:bodyPr wrap="square">
            <a:spAutoFit/>
          </a:bodyPr>
          <a:lstStyle/>
          <a:p>
            <a:r>
              <a:rPr lang="en-IN" sz="1200" b="1" dirty="0">
                <a:solidFill>
                  <a:srgbClr val="002060"/>
                </a:solidFill>
                <a:latin typeface="Arial" panose="020B0604020202020204" pitchFamily="34" charset="0"/>
                <a:cs typeface="Arial" panose="020B0604020202020204" pitchFamily="34" charset="0"/>
              </a:rPr>
              <a:t>srijoni.gupta@gmail.com</a:t>
            </a:r>
          </a:p>
        </p:txBody>
      </p:sp>
      <p:sp>
        <p:nvSpPr>
          <p:cNvPr id="56" name="TextBox 55">
            <a:extLst>
              <a:ext uri="{FF2B5EF4-FFF2-40B4-BE49-F238E27FC236}">
                <a16:creationId xmlns:a16="http://schemas.microsoft.com/office/drawing/2014/main" id="{9733390C-48E4-085F-3520-10E646B9F5E4}"/>
              </a:ext>
            </a:extLst>
          </p:cNvPr>
          <p:cNvSpPr txBox="1"/>
          <p:nvPr/>
        </p:nvSpPr>
        <p:spPr>
          <a:xfrm>
            <a:off x="4002459" y="3689445"/>
            <a:ext cx="1076085" cy="246221"/>
          </a:xfrm>
          <a:prstGeom prst="rect">
            <a:avLst/>
          </a:prstGeom>
          <a:noFill/>
        </p:spPr>
        <p:txBody>
          <a:bodyPr wrap="square">
            <a:spAutoFit/>
          </a:bodyPr>
          <a:lstStyle/>
          <a:p>
            <a:r>
              <a:rPr lang="en-IN" sz="1000" dirty="0">
                <a:latin typeface="Arial" panose="020B0604020202020204" pitchFamily="34" charset="0"/>
                <a:cs typeface="Arial" panose="020B0604020202020204" pitchFamily="34" charset="0"/>
              </a:rPr>
              <a:t>Student Name</a:t>
            </a:r>
          </a:p>
        </p:txBody>
      </p:sp>
      <p:sp>
        <p:nvSpPr>
          <p:cNvPr id="59" name="TextBox 58">
            <a:extLst>
              <a:ext uri="{FF2B5EF4-FFF2-40B4-BE49-F238E27FC236}">
                <a16:creationId xmlns:a16="http://schemas.microsoft.com/office/drawing/2014/main" id="{65187F72-1724-A993-E206-97FE19D018DD}"/>
              </a:ext>
            </a:extLst>
          </p:cNvPr>
          <p:cNvSpPr txBox="1"/>
          <p:nvPr/>
        </p:nvSpPr>
        <p:spPr>
          <a:xfrm>
            <a:off x="3864889" y="3903518"/>
            <a:ext cx="1563677" cy="276999"/>
          </a:xfrm>
          <a:prstGeom prst="rect">
            <a:avLst/>
          </a:prstGeom>
          <a:noFill/>
        </p:spPr>
        <p:txBody>
          <a:bodyPr wrap="square">
            <a:spAutoFit/>
          </a:bodyPr>
          <a:lstStyle/>
          <a:p>
            <a:r>
              <a:rPr lang="en-IN" sz="1200" b="1" dirty="0">
                <a:solidFill>
                  <a:srgbClr val="002060"/>
                </a:solidFill>
                <a:latin typeface="Arial" panose="020B0604020202020204" pitchFamily="34" charset="0"/>
                <a:cs typeface="Arial" panose="020B0604020202020204" pitchFamily="34" charset="0"/>
              </a:rPr>
              <a:t>Srijoni Gupta</a:t>
            </a:r>
          </a:p>
        </p:txBody>
      </p:sp>
      <p:pic>
        <p:nvPicPr>
          <p:cNvPr id="28" name="Picture 27">
            <a:extLst>
              <a:ext uri="{FF2B5EF4-FFF2-40B4-BE49-F238E27FC236}">
                <a16:creationId xmlns:a16="http://schemas.microsoft.com/office/drawing/2014/main" id="{9EABA7CA-F668-3923-BB86-B6B23B6F1227}"/>
              </a:ext>
            </a:extLst>
          </p:cNvPr>
          <p:cNvPicPr>
            <a:picLocks noChangeAspect="1"/>
          </p:cNvPicPr>
          <p:nvPr/>
        </p:nvPicPr>
        <p:blipFill>
          <a:blip r:embed="rId13"/>
          <a:stretch>
            <a:fillRect/>
          </a:stretch>
        </p:blipFill>
        <p:spPr>
          <a:xfrm>
            <a:off x="6282830" y="979325"/>
            <a:ext cx="2564701" cy="25647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3508653"/>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300" b="1" dirty="0">
                <a:latin typeface="Arial" panose="020B0604020202020204" pitchFamily="34" charset="0"/>
                <a:ea typeface="+mn-lt"/>
                <a:cs typeface="Arial" panose="020B0604020202020204" pitchFamily="34" charset="0"/>
              </a:rPr>
              <a:t>Objective: </a:t>
            </a:r>
            <a:r>
              <a:rPr lang="en-US" sz="1300" dirty="0">
                <a:latin typeface="Arial" panose="020B0604020202020204" pitchFamily="34" charset="0"/>
                <a:ea typeface="+mn-lt"/>
                <a:cs typeface="Arial" panose="020B0604020202020204" pitchFamily="34" charset="0"/>
              </a:rPr>
              <a:t>Improve payroll accuracy, transparency, and compliance by validating salary components (basic pay, allowances, overtime, bonuses, deductions) and providing actionable insights.</a:t>
            </a:r>
          </a:p>
          <a:p>
            <a:pPr marL="228600" indent="-228600">
              <a:spcAft>
                <a:spcPts val="800"/>
              </a:spcAft>
              <a:buFont typeface="Arial" panose="020B0604020202020204" pitchFamily="34" charset="0"/>
              <a:buChar char="•"/>
              <a:tabLst>
                <a:tab pos="4229100" algn="ctr"/>
              </a:tabLst>
            </a:pPr>
            <a:r>
              <a:rPr lang="en-US" sz="1300" b="1" dirty="0">
                <a:latin typeface="Arial" panose="020B0604020202020204" pitchFamily="34" charset="0"/>
                <a:ea typeface="+mn-lt"/>
                <a:cs typeface="Arial" panose="020B0604020202020204" pitchFamily="34" charset="0"/>
              </a:rPr>
              <a:t>Tools: </a:t>
            </a:r>
            <a:r>
              <a:rPr lang="en-US" sz="1300" dirty="0">
                <a:latin typeface="Arial" panose="020B0604020202020204" pitchFamily="34" charset="0"/>
                <a:ea typeface="+mn-lt"/>
                <a:cs typeface="Arial" panose="020B0604020202020204" pitchFamily="34" charset="0"/>
              </a:rPr>
              <a:t>Microsoft Excel for data cleaning, Copilot Studio chatbot for interactive payroll queries, and Power BI for dashboards and KPI visualization.</a:t>
            </a:r>
          </a:p>
          <a:p>
            <a:pPr marL="228600" indent="-228600">
              <a:spcAft>
                <a:spcPts val="800"/>
              </a:spcAft>
              <a:buFont typeface="Arial" panose="020B0604020202020204" pitchFamily="34" charset="0"/>
              <a:buChar char="•"/>
              <a:tabLst>
                <a:tab pos="4229100" algn="ctr"/>
              </a:tabLst>
            </a:pPr>
            <a:r>
              <a:rPr lang="en-US" sz="1300" b="1" dirty="0">
                <a:latin typeface="Arial" panose="020B0604020202020204" pitchFamily="34" charset="0"/>
                <a:ea typeface="+mn-lt"/>
                <a:cs typeface="Arial" panose="020B0604020202020204" pitchFamily="34" charset="0"/>
              </a:rPr>
              <a:t>Method: </a:t>
            </a:r>
          </a:p>
          <a:p>
            <a:pPr marL="285750" indent="-285750">
              <a:spcAft>
                <a:spcPts val="800"/>
              </a:spcAft>
              <a:buFont typeface="Courier New" panose="02070309020205020404" pitchFamily="49" charset="0"/>
              <a:buChar char="o"/>
              <a:tabLst>
                <a:tab pos="4229100" algn="ctr"/>
              </a:tabLst>
            </a:pPr>
            <a:r>
              <a:rPr lang="en-US" sz="1300" dirty="0">
                <a:latin typeface="Arial" panose="020B0604020202020204" pitchFamily="34" charset="0"/>
                <a:ea typeface="+mn-lt"/>
                <a:cs typeface="Arial" panose="020B0604020202020204" pitchFamily="34" charset="0"/>
              </a:rPr>
              <a:t>Clean and standardize payroll dataset (500+ employee records).</a:t>
            </a:r>
          </a:p>
          <a:p>
            <a:pPr marL="285750" indent="-285750">
              <a:spcAft>
                <a:spcPts val="800"/>
              </a:spcAft>
              <a:buFont typeface="Courier New" panose="02070309020205020404" pitchFamily="49" charset="0"/>
              <a:buChar char="o"/>
              <a:tabLst>
                <a:tab pos="4229100" algn="ctr"/>
              </a:tabLst>
            </a:pPr>
            <a:r>
              <a:rPr lang="en-US" sz="1300" dirty="0">
                <a:latin typeface="Arial" panose="020B0604020202020204" pitchFamily="34" charset="0"/>
                <a:ea typeface="+mn-lt"/>
                <a:cs typeface="Arial" panose="020B0604020202020204" pitchFamily="34" charset="0"/>
              </a:rPr>
              <a:t>Build KPI framework for overtime, bonuses, gross vs. net salary, and department‑wise costs.</a:t>
            </a:r>
          </a:p>
          <a:p>
            <a:pPr marL="285750" indent="-285750">
              <a:spcAft>
                <a:spcPts val="800"/>
              </a:spcAft>
              <a:buFont typeface="Courier New" panose="02070309020205020404" pitchFamily="49" charset="0"/>
              <a:buChar char="o"/>
              <a:tabLst>
                <a:tab pos="4229100" algn="ctr"/>
              </a:tabLst>
            </a:pPr>
            <a:r>
              <a:rPr lang="en-US" sz="1300" dirty="0">
                <a:latin typeface="Arial" panose="020B0604020202020204" pitchFamily="34" charset="0"/>
                <a:ea typeface="+mn-lt"/>
                <a:cs typeface="Arial" panose="020B0604020202020204" pitchFamily="34" charset="0"/>
              </a:rPr>
              <a:t>Integrate chatbot for anomaly detection and query support.</a:t>
            </a:r>
          </a:p>
          <a:p>
            <a:pPr marL="285750" indent="-285750">
              <a:spcAft>
                <a:spcPts val="800"/>
              </a:spcAft>
              <a:buFont typeface="Courier New" panose="02070309020205020404" pitchFamily="49" charset="0"/>
              <a:buChar char="o"/>
              <a:tabLst>
                <a:tab pos="4229100" algn="ctr"/>
              </a:tabLst>
            </a:pPr>
            <a:r>
              <a:rPr lang="en-US" sz="1300" dirty="0">
                <a:latin typeface="Arial" panose="020B0604020202020204" pitchFamily="34" charset="0"/>
                <a:ea typeface="+mn-lt"/>
                <a:cs typeface="Arial" panose="020B0604020202020204" pitchFamily="34" charset="0"/>
              </a:rPr>
              <a:t>Visualize insights through interactive Power BI dashboards.</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1EC777-FAE4-B8A3-4123-B1761E17E6EE}"/>
              </a:ext>
            </a:extLst>
          </p:cNvPr>
          <p:cNvSpPr txBox="1"/>
          <p:nvPr/>
        </p:nvSpPr>
        <p:spPr>
          <a:xfrm>
            <a:off x="193040" y="589280"/>
            <a:ext cx="2275840" cy="400110"/>
          </a:xfrm>
          <a:prstGeom prst="rect">
            <a:avLst/>
          </a:prstGeom>
          <a:noFill/>
        </p:spPr>
        <p:txBody>
          <a:bodyPr wrap="square" rtlCol="0">
            <a:spAutoFit/>
          </a:bodyPr>
          <a:lstStyle/>
          <a:p>
            <a:r>
              <a:rPr lang="en-IN" sz="2000" b="1" dirty="0">
                <a:solidFill>
                  <a:schemeClr val="tx2"/>
                </a:solidFill>
                <a:latin typeface="Lato" panose="020F0502020204030203" pitchFamily="34" charset="0"/>
                <a:ea typeface="Lato" panose="020F0502020204030203" pitchFamily="34" charset="0"/>
                <a:cs typeface="Lato" panose="020F0502020204030203" pitchFamily="34" charset="0"/>
              </a:rPr>
              <a:t>Abstract</a:t>
            </a:r>
            <a:endParaRPr lang="en-IN" b="1"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4" name="TextBox 3">
            <a:extLst>
              <a:ext uri="{FF2B5EF4-FFF2-40B4-BE49-F238E27FC236}">
                <a16:creationId xmlns:a16="http://schemas.microsoft.com/office/drawing/2014/main" id="{D3B69A9A-41BA-B599-B8AB-39FC5B2CDA4F}"/>
              </a:ext>
            </a:extLst>
          </p:cNvPr>
          <p:cNvSpPr txBox="1"/>
          <p:nvPr/>
        </p:nvSpPr>
        <p:spPr>
          <a:xfrm>
            <a:off x="294640" y="1168400"/>
            <a:ext cx="5039360" cy="2062103"/>
          </a:xfrm>
          <a:prstGeom prst="rect">
            <a:avLst/>
          </a:prstGeom>
          <a:noFill/>
        </p:spPr>
        <p:txBody>
          <a:bodyPr wrap="square" rtlCol="0">
            <a:spAutoFit/>
          </a:bodyPr>
          <a:lstStyle/>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Outcome:</a:t>
            </a:r>
          </a:p>
          <a:p>
            <a:pPr marL="285750" indent="-285750">
              <a:buFont typeface="Courier New" panose="02070309020205020404" pitchFamily="49" charset="0"/>
              <a:buChar char="o"/>
            </a:pPr>
            <a:r>
              <a:rPr lang="en-US" sz="1600" dirty="0">
                <a:latin typeface="Arial" panose="020B0604020202020204" pitchFamily="34" charset="0"/>
                <a:cs typeface="Arial" panose="020B0604020202020204" pitchFamily="34" charset="0"/>
              </a:rPr>
              <a:t>Validated payroll dataset with reduced errors.</a:t>
            </a:r>
          </a:p>
          <a:p>
            <a:pPr marL="285750" indent="-285750">
              <a:buFont typeface="Courier New" panose="02070309020205020404" pitchFamily="49" charset="0"/>
              <a:buChar char="o"/>
            </a:pPr>
            <a:r>
              <a:rPr lang="en-US" sz="1600" dirty="0">
                <a:latin typeface="Arial" panose="020B0604020202020204" pitchFamily="34" charset="0"/>
                <a:cs typeface="Arial" panose="020B0604020202020204" pitchFamily="34" charset="0"/>
              </a:rPr>
              <a:t>Transparent dashboards showing department costs, overtime hotspots, and bonus flows.</a:t>
            </a:r>
          </a:p>
          <a:p>
            <a:pPr marL="285750" indent="-285750">
              <a:buFont typeface="Courier New" panose="02070309020205020404" pitchFamily="49" charset="0"/>
              <a:buChar char="o"/>
            </a:pPr>
            <a:r>
              <a:rPr lang="en-US" sz="1600" dirty="0">
                <a:latin typeface="Arial" panose="020B0604020202020204" pitchFamily="34" charset="0"/>
                <a:cs typeface="Arial" panose="020B0604020202020204" pitchFamily="34" charset="0"/>
              </a:rPr>
              <a:t>AI‑assisted workflows that save time and ensure reproducibility.</a:t>
            </a:r>
          </a:p>
          <a:p>
            <a:pPr marL="285750" indent="-285750">
              <a:buFont typeface="Courier New" panose="02070309020205020404" pitchFamily="49" charset="0"/>
              <a:buChar char="o"/>
            </a:pPr>
            <a:r>
              <a:rPr lang="en-US" sz="1600" dirty="0">
                <a:latin typeface="Arial" panose="020B0604020202020204" pitchFamily="34" charset="0"/>
                <a:cs typeface="Arial" panose="020B0604020202020204" pitchFamily="34" charset="0"/>
              </a:rPr>
              <a:t>Stakeholder‑ready reports for HR and Finance decision‑making.</a:t>
            </a:r>
          </a:p>
        </p:txBody>
      </p:sp>
      <p:pic>
        <p:nvPicPr>
          <p:cNvPr id="5" name="Picture 4">
            <a:extLst>
              <a:ext uri="{FF2B5EF4-FFF2-40B4-BE49-F238E27FC236}">
                <a16:creationId xmlns:a16="http://schemas.microsoft.com/office/drawing/2014/main" id="{6A51A19E-6B82-0D3A-48C3-FDD49504F222}"/>
              </a:ext>
            </a:extLst>
          </p:cNvPr>
          <p:cNvPicPr>
            <a:picLocks noChangeAspect="1"/>
          </p:cNvPicPr>
          <p:nvPr/>
        </p:nvPicPr>
        <p:blipFill>
          <a:blip r:embed="rId2"/>
          <a:stretch>
            <a:fillRect/>
          </a:stretch>
        </p:blipFill>
        <p:spPr>
          <a:xfrm>
            <a:off x="5560996" y="989390"/>
            <a:ext cx="3288364" cy="3203545"/>
          </a:xfrm>
          <a:prstGeom prst="rect">
            <a:avLst/>
          </a:prstGeom>
        </p:spPr>
      </p:pic>
    </p:spTree>
    <p:extLst>
      <p:ext uri="{BB962C8B-B14F-4D97-AF65-F5344CB8AC3E}">
        <p14:creationId xmlns:p14="http://schemas.microsoft.com/office/powerpoint/2010/main" val="3010658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5538951" y="1050198"/>
            <a:ext cx="3484425" cy="3484425"/>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5" name="TextBox 4">
            <a:extLst>
              <a:ext uri="{FF2B5EF4-FFF2-40B4-BE49-F238E27FC236}">
                <a16:creationId xmlns:a16="http://schemas.microsoft.com/office/drawing/2014/main" id="{8E93A78F-F646-F67D-C35E-B21C1E9DC159}"/>
              </a:ext>
            </a:extLst>
          </p:cNvPr>
          <p:cNvSpPr txBox="1"/>
          <p:nvPr/>
        </p:nvSpPr>
        <p:spPr>
          <a:xfrm>
            <a:off x="120623" y="1166648"/>
            <a:ext cx="5227718" cy="3754874"/>
          </a:xfrm>
          <a:prstGeom prst="rect">
            <a:avLst/>
          </a:prstGeom>
          <a:noFill/>
        </p:spPr>
        <p:txBody>
          <a:bodyPr wrap="square" rtlCol="0">
            <a:spAutoFit/>
          </a:bodyPr>
          <a:lstStyle/>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Payroll Accuracy &amp; Transparency: </a:t>
            </a:r>
            <a:r>
              <a:rPr lang="en-US" sz="1400" dirty="0">
                <a:latin typeface="Arial" panose="020B0604020202020204" pitchFamily="34" charset="0"/>
                <a:cs typeface="Arial" panose="020B0604020202020204" pitchFamily="34" charset="0"/>
              </a:rPr>
              <a:t>Crystal Pay’s dataset includes multiple salary components — basic pay, allowances, overtime, bonuses, and deductions. Errors in overtime calculation, bonus allocation, or deduction entries reduce payroll accuracy and compliance.</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Departmental Cost Visibility : </a:t>
            </a:r>
            <a:r>
              <a:rPr lang="en-US" sz="1400" dirty="0">
                <a:latin typeface="Arial" panose="020B0604020202020204" pitchFamily="34" charset="0"/>
                <a:cs typeface="Arial" panose="020B0604020202020204" pitchFamily="34" charset="0"/>
              </a:rPr>
              <a:t>The dataset spans HR, Finance, IT, and Sales. However, Crystal Pay currently lacks clear insights into department‑wise salary distribution, overtime trends, and bonus flows, limiting workforce cost planning.</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Overtime &amp; Bonus Flow Optimization :  </a:t>
            </a:r>
            <a:r>
              <a:rPr lang="en-US" sz="1400" dirty="0">
                <a:latin typeface="Arial" panose="020B0604020202020204" pitchFamily="34" charset="0"/>
                <a:cs typeface="Arial" panose="020B0604020202020204" pitchFamily="34" charset="0"/>
              </a:rPr>
              <a:t>Employees show wide variation in overtime hours and bonus structures. Without systematic tracking, compensation fairness is compromised, and forecasting payroll liabilities becomes difficult.</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4C0405-64E1-9D57-DFAC-F707D6EA176F}"/>
              </a:ext>
            </a:extLst>
          </p:cNvPr>
          <p:cNvPicPr>
            <a:picLocks noChangeAspect="1"/>
          </p:cNvPicPr>
          <p:nvPr/>
        </p:nvPicPr>
        <p:blipFill>
          <a:blip r:embed="rId2"/>
          <a:stretch>
            <a:fillRect/>
          </a:stretch>
        </p:blipFill>
        <p:spPr>
          <a:xfrm>
            <a:off x="5452627" y="809248"/>
            <a:ext cx="3525003" cy="3525003"/>
          </a:xfrm>
          <a:prstGeom prst="rect">
            <a:avLst/>
          </a:prstGeom>
        </p:spPr>
      </p:pic>
      <p:sp>
        <p:nvSpPr>
          <p:cNvPr id="4" name="TextBox 3">
            <a:extLst>
              <a:ext uri="{FF2B5EF4-FFF2-40B4-BE49-F238E27FC236}">
                <a16:creationId xmlns:a16="http://schemas.microsoft.com/office/drawing/2014/main" id="{D6A00E46-F4A2-7B77-A4F3-026C3905F1FE}"/>
              </a:ext>
            </a:extLst>
          </p:cNvPr>
          <p:cNvSpPr txBox="1"/>
          <p:nvPr/>
        </p:nvSpPr>
        <p:spPr>
          <a:xfrm>
            <a:off x="274320" y="660400"/>
            <a:ext cx="4511040" cy="400110"/>
          </a:xfrm>
          <a:prstGeom prst="rect">
            <a:avLst/>
          </a:prstGeom>
          <a:noFill/>
        </p:spPr>
        <p:txBody>
          <a:bodyPr wrap="square" rtlCol="0">
            <a:spAutoFit/>
          </a:bodyPr>
          <a:lstStyle/>
          <a:p>
            <a:r>
              <a:rPr lang="en-IN" sz="2000"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rPr>
              <a:t>Problem Statement</a:t>
            </a:r>
          </a:p>
        </p:txBody>
      </p:sp>
      <p:sp>
        <p:nvSpPr>
          <p:cNvPr id="7" name="TextBox 6">
            <a:extLst>
              <a:ext uri="{FF2B5EF4-FFF2-40B4-BE49-F238E27FC236}">
                <a16:creationId xmlns:a16="http://schemas.microsoft.com/office/drawing/2014/main" id="{7C760469-C213-7CF7-51B6-D1B2C92C6A80}"/>
              </a:ext>
            </a:extLst>
          </p:cNvPr>
          <p:cNvSpPr txBox="1"/>
          <p:nvPr/>
        </p:nvSpPr>
        <p:spPr>
          <a:xfrm>
            <a:off x="396239" y="1312671"/>
            <a:ext cx="4389121" cy="3108543"/>
          </a:xfrm>
          <a:prstGeom prst="rect">
            <a:avLst/>
          </a:prstGeom>
          <a:noFill/>
        </p:spPr>
        <p:txBody>
          <a:bodyPr wrap="square" rtlCol="0">
            <a:spAutoFit/>
          </a:bodyPr>
          <a:lstStyle/>
          <a:p>
            <a:pPr marL="285750" indent="-285750">
              <a:buFont typeface="Arial" panose="020B0604020202020204" pitchFamily="34" charset="0"/>
              <a:buChar char="•"/>
            </a:pPr>
            <a:r>
              <a:rPr lang="en-US" sz="1400" b="1" dirty="0">
                <a:latin typeface="Arial" panose="020B0604020202020204" pitchFamily="34" charset="0"/>
                <a:ea typeface="Lato" panose="020F0502020204030203" pitchFamily="34" charset="0"/>
                <a:cs typeface="Arial" panose="020B0604020202020204" pitchFamily="34" charset="0"/>
              </a:rPr>
              <a:t>Gross vs. Net Salary Analysis : </a:t>
            </a:r>
            <a:r>
              <a:rPr lang="en-US" sz="1400" dirty="0">
                <a:latin typeface="Arial" panose="020B0604020202020204" pitchFamily="34" charset="0"/>
                <a:ea typeface="Lato" panose="020F0502020204030203" pitchFamily="34" charset="0"/>
                <a:cs typeface="Arial" panose="020B0604020202020204" pitchFamily="34" charset="0"/>
              </a:rPr>
              <a:t>While gross and net salary values are available, Crystal Pay does not yet provide actionable insights such as identifying top earners, high‑deduction cases, or overtime hotspots that could guide HR and Finance in decision‑making.</a:t>
            </a:r>
          </a:p>
          <a:p>
            <a:endParaRPr lang="en-US" sz="1400" dirty="0">
              <a:latin typeface="Arial" panose="020B0604020202020204" pitchFamily="34" charset="0"/>
              <a:ea typeface="Lato" panose="020F0502020204030203"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ea typeface="Lato" panose="020F0502020204030203" pitchFamily="34" charset="0"/>
                <a:cs typeface="Arial" panose="020B0604020202020204" pitchFamily="34" charset="0"/>
              </a:rPr>
              <a:t>Scalability &amp; Compliance Risks:  </a:t>
            </a:r>
            <a:r>
              <a:rPr lang="en-US" sz="1400" dirty="0">
                <a:latin typeface="Arial" panose="020B0604020202020204" pitchFamily="34" charset="0"/>
                <a:ea typeface="Lato" panose="020F0502020204030203" pitchFamily="34" charset="0"/>
                <a:cs typeface="Arial" panose="020B0604020202020204" pitchFamily="34" charset="0"/>
              </a:rPr>
              <a:t>With 500+ records across multiple years, manual analysis is error‑prone. Lack of automated anomaly detection and standardized reporting increases compliance risks and reduces efficiency.</a:t>
            </a:r>
          </a:p>
          <a:p>
            <a:endParaRPr lang="en-US" sz="1400" dirty="0">
              <a:latin typeface="Arial" panose="020B0604020202020204" pitchFamily="34" charset="0"/>
              <a:ea typeface="Lato" panose="020F0502020204030203" pitchFamily="34" charset="0"/>
              <a:cs typeface="Arial" panose="020B0604020202020204" pitchFamily="34" charset="0"/>
            </a:endParaRPr>
          </a:p>
          <a:p>
            <a:pPr marL="285750" indent="-285750">
              <a:buFont typeface="Arial" panose="020B0604020202020204" pitchFamily="34" charset="0"/>
              <a:buChar char="•"/>
            </a:pPr>
            <a:endParaRPr lang="en-US" sz="1400" dirty="0">
              <a:latin typeface="Arial" panose="020B0604020202020204" pitchFamily="34" charset="0"/>
              <a:ea typeface="Lato" panose="020F0502020204030203" pitchFamily="34" charset="0"/>
              <a:cs typeface="Arial" panose="020B0604020202020204" pitchFamily="34" charset="0"/>
            </a:endParaRPr>
          </a:p>
        </p:txBody>
      </p:sp>
    </p:spTree>
    <p:extLst>
      <p:ext uri="{BB962C8B-B14F-4D97-AF65-F5344CB8AC3E}">
        <p14:creationId xmlns:p14="http://schemas.microsoft.com/office/powerpoint/2010/main" val="1529331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D577BF-6817-F539-27F5-EBF5F67317BC}"/>
              </a:ext>
            </a:extLst>
          </p:cNvPr>
          <p:cNvPicPr>
            <a:picLocks noChangeAspect="1"/>
          </p:cNvPicPr>
          <p:nvPr/>
        </p:nvPicPr>
        <p:blipFill>
          <a:blip r:embed="rId2"/>
          <a:stretch>
            <a:fillRect/>
          </a:stretch>
        </p:blipFill>
        <p:spPr>
          <a:xfrm>
            <a:off x="5310387" y="1312671"/>
            <a:ext cx="3525003" cy="3525003"/>
          </a:xfrm>
          <a:prstGeom prst="rect">
            <a:avLst/>
          </a:prstGeom>
        </p:spPr>
      </p:pic>
      <p:sp>
        <p:nvSpPr>
          <p:cNvPr id="5" name="TextBox 4">
            <a:extLst>
              <a:ext uri="{FF2B5EF4-FFF2-40B4-BE49-F238E27FC236}">
                <a16:creationId xmlns:a16="http://schemas.microsoft.com/office/drawing/2014/main" id="{98CFC3BB-879C-67F7-28E4-73E6BF4865FF}"/>
              </a:ext>
            </a:extLst>
          </p:cNvPr>
          <p:cNvSpPr txBox="1"/>
          <p:nvPr/>
        </p:nvSpPr>
        <p:spPr>
          <a:xfrm>
            <a:off x="568960" y="731520"/>
            <a:ext cx="4592320" cy="400110"/>
          </a:xfrm>
          <a:prstGeom prst="rect">
            <a:avLst/>
          </a:prstGeom>
          <a:noFill/>
        </p:spPr>
        <p:txBody>
          <a:bodyPr wrap="square" rtlCol="0">
            <a:spAutoFit/>
          </a:bodyPr>
          <a:lstStyle/>
          <a:p>
            <a:r>
              <a:rPr lang="en-US" sz="2000"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rPr>
              <a:t>Problem Statement</a:t>
            </a:r>
            <a:endParaRPr lang="en-IN" sz="2000"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4C882181-3059-F2E1-5950-2D8E06314F45}"/>
              </a:ext>
            </a:extLst>
          </p:cNvPr>
          <p:cNvSpPr txBox="1"/>
          <p:nvPr/>
        </p:nvSpPr>
        <p:spPr>
          <a:xfrm>
            <a:off x="345440" y="1312671"/>
            <a:ext cx="4490720" cy="2923877"/>
          </a:xfrm>
          <a:prstGeom prst="rect">
            <a:avLst/>
          </a:prstGeom>
          <a:noFill/>
        </p:spPr>
        <p:txBody>
          <a:bodyPr wrap="square" rtlCol="0">
            <a:spAutoFit/>
          </a:bodyPr>
          <a:lstStyle/>
          <a:p>
            <a:pPr marL="285750" indent="-285750">
              <a:buFont typeface="Arial" panose="020B0604020202020204" pitchFamily="34" charset="0"/>
              <a:buChar char="•"/>
            </a:pPr>
            <a:r>
              <a:rPr lang="en-US" sz="1400" b="1" dirty="0">
                <a:latin typeface="Arial" panose="020B0604020202020204" pitchFamily="34" charset="0"/>
                <a:ea typeface="Lato" panose="020F0502020204030203" pitchFamily="34" charset="0"/>
                <a:cs typeface="Arial" panose="020B0604020202020204" pitchFamily="34" charset="0"/>
              </a:rPr>
              <a:t>Decision Support Gaps:  </a:t>
            </a:r>
            <a:r>
              <a:rPr lang="en-US" sz="1400" dirty="0">
                <a:latin typeface="Arial" panose="020B0604020202020204" pitchFamily="34" charset="0"/>
                <a:ea typeface="Lato" panose="020F0502020204030203" pitchFamily="34" charset="0"/>
                <a:cs typeface="Arial" panose="020B0604020202020204" pitchFamily="34" charset="0"/>
              </a:rPr>
              <a:t>Crystal Pay’s current payroll system does not leverage predictive analytics to forecast salary liabilities, overtime costs, or bonus distributions, leaving HR and Finance without proactive decision‑support tools.</a:t>
            </a:r>
          </a:p>
          <a:p>
            <a:endParaRPr lang="en-US" sz="1400" dirty="0">
              <a:latin typeface="Arial" panose="020B0604020202020204" pitchFamily="34" charset="0"/>
              <a:ea typeface="Lato" panose="020F0502020204030203"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ea typeface="Lato" panose="020F0502020204030203" pitchFamily="34" charset="0"/>
                <a:cs typeface="Arial" panose="020B0604020202020204" pitchFamily="34" charset="0"/>
              </a:rPr>
              <a:t>Workforce Planning &amp; Strategic Insights:  </a:t>
            </a:r>
            <a:r>
              <a:rPr lang="en-US" sz="1400" dirty="0">
                <a:latin typeface="Arial" panose="020B0604020202020204" pitchFamily="34" charset="0"/>
                <a:ea typeface="Lato" panose="020F0502020204030203" pitchFamily="34" charset="0"/>
                <a:cs typeface="Arial" panose="020B0604020202020204" pitchFamily="34" charset="0"/>
              </a:rPr>
              <a:t>Beyond payroll totals, Crystal Pay lacks dashboards that highlight workforce trends such as overtime hotspots, bonus fairness, and department‑wise salary efficiency limiting HR and Finance in making strategic decisions.</a:t>
            </a:r>
          </a:p>
          <a:p>
            <a:pPr marL="285750" indent="-285750">
              <a:buFont typeface="Arial" panose="020B0604020202020204" pitchFamily="34" charset="0"/>
              <a:buChar char="•"/>
            </a:pPr>
            <a:endParaRPr lang="en-US" sz="1600" dirty="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569171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5599216" y="1046013"/>
            <a:ext cx="3179024" cy="2724877"/>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79455043-A07D-9899-FB37-DE9AA8781825}"/>
              </a:ext>
            </a:extLst>
          </p:cNvPr>
          <p:cNvSpPr txBox="1"/>
          <p:nvPr/>
        </p:nvSpPr>
        <p:spPr>
          <a:xfrm>
            <a:off x="125486" y="1185567"/>
            <a:ext cx="5550100" cy="3108543"/>
          </a:xfrm>
          <a:prstGeom prst="rect">
            <a:avLst/>
          </a:prstGeom>
          <a:noFill/>
        </p:spPr>
        <p:txBody>
          <a:bodyPr wrap="square" rtlCol="0">
            <a:spAutoFit/>
          </a:bodyPr>
          <a:lstStyle/>
          <a:p>
            <a:pPr marL="285750" indent="-285750">
              <a:buFont typeface="Arial" panose="020B0604020202020204" pitchFamily="34" charset="0"/>
              <a:buChar char="•"/>
            </a:pPr>
            <a:r>
              <a:rPr lang="en-US" sz="1300" b="1" dirty="0">
                <a:latin typeface="Arial" panose="020B0604020202020204" pitchFamily="34" charset="0"/>
                <a:cs typeface="Arial" panose="020B0604020202020204" pitchFamily="34" charset="0"/>
              </a:rPr>
              <a:t>Payroll Data Validation – Clean Data, Confident Decisions : </a:t>
            </a:r>
            <a:r>
              <a:rPr lang="en-US" sz="1300" dirty="0">
                <a:latin typeface="Arial" panose="020B0604020202020204" pitchFamily="34" charset="0"/>
                <a:cs typeface="Arial" panose="020B0604020202020204" pitchFamily="34" charset="0"/>
              </a:rPr>
              <a:t>Automate duplicate removal, overtime calculation checks, and deduction consistency using Excel and Copilot Studio. This ensures payroll accuracy and compliance across 500+ records.</a:t>
            </a:r>
          </a:p>
          <a:p>
            <a:endParaRPr lang="en-U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300" b="1" dirty="0">
                <a:latin typeface="Arial" panose="020B0604020202020204" pitchFamily="34" charset="0"/>
                <a:cs typeface="Arial" panose="020B0604020202020204" pitchFamily="34" charset="0"/>
              </a:rPr>
              <a:t>Department‑Wise Segmentation – Clear Workforce Insights: </a:t>
            </a:r>
            <a:r>
              <a:rPr lang="en-US" sz="1300" dirty="0">
                <a:latin typeface="Arial" panose="020B0604020202020204" pitchFamily="34" charset="0"/>
                <a:cs typeface="Arial" panose="020B0604020202020204" pitchFamily="34" charset="0"/>
              </a:rPr>
              <a:t>Use Power BI dashboards to break down HR, Finance, IT, and Sales salary structures. Provide department‑specific views of overtime, bonuses, and net salary trends for strategic planning.</a:t>
            </a:r>
          </a:p>
          <a:p>
            <a:endParaRPr lang="en-U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300" b="1" dirty="0">
                <a:latin typeface="Arial" panose="020B0604020202020204" pitchFamily="34" charset="0"/>
                <a:cs typeface="Arial" panose="020B0604020202020204" pitchFamily="34" charset="0"/>
              </a:rPr>
              <a:t>Overtime &amp; Bonus Analytics – Fair Pay, Transparent Flows :  </a:t>
            </a:r>
            <a:r>
              <a:rPr lang="en-US" sz="1300" dirty="0">
                <a:latin typeface="Arial" panose="020B0604020202020204" pitchFamily="34" charset="0"/>
                <a:cs typeface="Arial" panose="020B0604020202020204" pitchFamily="34" charset="0"/>
              </a:rPr>
              <a:t>Develop dashboards that highlight overtime hotspots and bonus allocation fairness. Visualize their impact on gross and net salaries to support HR and Finance in policy optimization.</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285750" indent="-285750">
              <a:buFont typeface="Arial" panose="020B0604020202020204" pitchFamily="34" charset="0"/>
              <a:buChar char="•"/>
            </a:pPr>
            <a:r>
              <a:rPr lang="en-US" sz="1200" b="1" dirty="0">
                <a:solidFill>
                  <a:srgbClr val="1A1A2E"/>
                </a:solidFill>
                <a:latin typeface="Arial" panose="020B0604020202020204" pitchFamily="34" charset="0"/>
                <a:ea typeface="Calibri" pitchFamily="34" charset="-122"/>
                <a:cs typeface="Arial" panose="020B0604020202020204" pitchFamily="34" charset="0"/>
              </a:rPr>
              <a:t>Data cleaning: </a:t>
            </a:r>
            <a:r>
              <a:rPr lang="en-US" sz="1200" dirty="0">
                <a:solidFill>
                  <a:srgbClr val="1A1A2E"/>
                </a:solidFill>
                <a:latin typeface="Arial" panose="020B0604020202020204" pitchFamily="34" charset="0"/>
                <a:ea typeface="Calibri" pitchFamily="34" charset="-122"/>
                <a:cs typeface="Arial" panose="020B0604020202020204" pitchFamily="34" charset="0"/>
              </a:rPr>
              <a:t>duplicate removal, salary validation, department standardization.</a:t>
            </a:r>
          </a:p>
          <a:p>
            <a:pPr marL="285750" indent="-285750">
              <a:buFont typeface="Arial" panose="020B0604020202020204" pitchFamily="34" charset="0"/>
              <a:buChar char="•"/>
            </a:pPr>
            <a:r>
              <a:rPr lang="en-US" sz="1200" b="1" dirty="0">
                <a:solidFill>
                  <a:srgbClr val="1A1A2E"/>
                </a:solidFill>
                <a:latin typeface="Arial" panose="020B0604020202020204" pitchFamily="34" charset="0"/>
                <a:ea typeface="Calibri" pitchFamily="34" charset="-122"/>
                <a:cs typeface="Arial" panose="020B0604020202020204" pitchFamily="34" charset="0"/>
              </a:rPr>
              <a:t>KPI preparation: </a:t>
            </a:r>
            <a:r>
              <a:rPr lang="en-US" sz="1200" dirty="0">
                <a:solidFill>
                  <a:srgbClr val="1A1A2E"/>
                </a:solidFill>
                <a:latin typeface="Arial" panose="020B0604020202020204" pitchFamily="34" charset="0"/>
                <a:ea typeface="Calibri" pitchFamily="34" charset="-122"/>
                <a:cs typeface="Arial" panose="020B0604020202020204" pitchFamily="34" charset="0"/>
              </a:rPr>
              <a:t>overtime trends, bonus flows, gross vs. net salary comparisons.</a:t>
            </a:r>
          </a:p>
          <a:p>
            <a:pPr marL="285750" indent="-285750">
              <a:buFont typeface="Arial" panose="020B0604020202020204" pitchFamily="34" charset="0"/>
              <a:buChar char="•"/>
            </a:pPr>
            <a:r>
              <a:rPr lang="en-US" sz="1200" dirty="0">
                <a:solidFill>
                  <a:srgbClr val="1A1A2E"/>
                </a:solidFill>
                <a:latin typeface="Arial" panose="020B0604020202020204" pitchFamily="34" charset="0"/>
                <a:ea typeface="Calibri" pitchFamily="34" charset="-122"/>
                <a:cs typeface="Arial" panose="020B0604020202020204" pitchFamily="34" charset="0"/>
              </a:rPr>
              <a:t>Excel used for preprocessing and structured dataset creation</a:t>
            </a:r>
            <a:r>
              <a:rPr lang="en-US" sz="1300" dirty="0">
                <a:solidFill>
                  <a:srgbClr val="1A1A2E"/>
                </a:solidFill>
                <a:latin typeface="Arial" panose="020B0604020202020204" pitchFamily="34" charset="0"/>
                <a:ea typeface="Calibri" pitchFamily="34" charset="-122"/>
                <a:cs typeface="Arial" panose="020B0604020202020204" pitchFamily="34" charset="0"/>
              </a:rPr>
              <a:t>.</a:t>
            </a:r>
            <a:endParaRPr lang="en-US" sz="1300" dirty="0">
              <a:latin typeface="Arial" panose="020B0604020202020204"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3977640" cy="1541184"/>
          </a:xfrm>
          <a:prstGeom prst="rect">
            <a:avLst/>
          </a:prstGeom>
          <a:noFill/>
          <a:ln/>
        </p:spPr>
        <p:txBody>
          <a:bodyPr wrap="square" rtlCol="0" anchor="t"/>
          <a:lstStyle/>
          <a:p>
            <a:pPr marL="171450" indent="-171450">
              <a:buFont typeface="Arial" panose="020B0604020202020204" pitchFamily="34" charset="0"/>
              <a:buChar char="•"/>
            </a:pPr>
            <a:r>
              <a:rPr lang="en-US" sz="1300" b="1" dirty="0">
                <a:solidFill>
                  <a:srgbClr val="1A1A2E"/>
                </a:solidFill>
                <a:latin typeface="Arial" panose="020B0604020202020204" pitchFamily="34" charset="0"/>
                <a:ea typeface="Calibri" pitchFamily="34" charset="-122"/>
                <a:cs typeface="Arial" panose="020B0604020202020204" pitchFamily="34" charset="0"/>
              </a:rPr>
              <a:t>Copilot Studio chatbot </a:t>
            </a:r>
            <a:r>
              <a:rPr lang="en-US" sz="1300" dirty="0">
                <a:solidFill>
                  <a:srgbClr val="1A1A2E"/>
                </a:solidFill>
                <a:latin typeface="Arial" panose="020B0604020202020204" pitchFamily="34" charset="0"/>
                <a:ea typeface="Calibri" pitchFamily="34" charset="-122"/>
                <a:cs typeface="Arial" panose="020B0604020202020204" pitchFamily="34" charset="0"/>
              </a:rPr>
              <a:t>designed to answer payroll queries (e.g., overtime, bonuses, department costs).</a:t>
            </a:r>
          </a:p>
          <a:p>
            <a:pPr marL="171450" indent="-171450">
              <a:buFont typeface="Arial" panose="020B0604020202020204" pitchFamily="34" charset="0"/>
              <a:buChar char="•"/>
            </a:pPr>
            <a:r>
              <a:rPr lang="en-US" sz="1300" b="1" dirty="0">
                <a:solidFill>
                  <a:srgbClr val="1A1A2E"/>
                </a:solidFill>
                <a:latin typeface="Arial" panose="020B0604020202020204" pitchFamily="34" charset="0"/>
                <a:ea typeface="Calibri" pitchFamily="34" charset="-122"/>
                <a:cs typeface="Arial" panose="020B0604020202020204" pitchFamily="34" charset="0"/>
              </a:rPr>
              <a:t>AI workflows </a:t>
            </a:r>
            <a:r>
              <a:rPr lang="en-US" sz="1300" dirty="0">
                <a:solidFill>
                  <a:srgbClr val="1A1A2E"/>
                </a:solidFill>
                <a:latin typeface="Arial" panose="020B0604020202020204" pitchFamily="34" charset="0"/>
                <a:ea typeface="Calibri" pitchFamily="34" charset="-122"/>
                <a:cs typeface="Arial" panose="020B0604020202020204" pitchFamily="34" charset="0"/>
              </a:rPr>
              <a:t>for anomaly detection, automated reporting, and stakeholder‑ready explanations.</a:t>
            </a:r>
          </a:p>
          <a:p>
            <a:pPr marL="171450" indent="-171450">
              <a:buFont typeface="Arial" panose="020B0604020202020204" pitchFamily="34" charset="0"/>
              <a:buChar char="•"/>
            </a:pPr>
            <a:r>
              <a:rPr lang="en-US" sz="1300" dirty="0">
                <a:solidFill>
                  <a:srgbClr val="1A1A2E"/>
                </a:solidFill>
                <a:latin typeface="Arial" panose="020B0604020202020204" pitchFamily="34" charset="0"/>
                <a:ea typeface="Calibri" pitchFamily="34" charset="-122"/>
                <a:cs typeface="Arial" panose="020B0604020202020204" pitchFamily="34" charset="0"/>
              </a:rPr>
              <a:t>Integration ensures reproducibility and interactive query handling.</a:t>
            </a:r>
            <a:endParaRPr lang="en-US" sz="1300" dirty="0">
              <a:latin typeface="Arial" panose="020B0604020202020204"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55464" cy="1419264"/>
          </a:xfrm>
          <a:prstGeom prst="rect">
            <a:avLst/>
          </a:prstGeom>
          <a:noFill/>
          <a:ln/>
        </p:spPr>
        <p:txBody>
          <a:bodyPr wrap="square" rtlCol="0" anchor="t"/>
          <a:lstStyle/>
          <a:p>
            <a:pPr marL="0" indent="0">
              <a:buNone/>
            </a:pPr>
            <a:r>
              <a:rPr lang="en-US" sz="1300" b="1" dirty="0">
                <a:solidFill>
                  <a:srgbClr val="1A1A2E"/>
                </a:solidFill>
                <a:latin typeface="Arial" panose="020B0604020202020204" pitchFamily="34" charset="0"/>
                <a:ea typeface="Calibri" pitchFamily="34" charset="-122"/>
                <a:cs typeface="Arial" panose="020B0604020202020204" pitchFamily="34" charset="0"/>
              </a:rPr>
              <a:t>Power BI dashboards for visualization:</a:t>
            </a:r>
          </a:p>
          <a:p>
            <a:pPr marL="285750" indent="-285750">
              <a:buFont typeface="Arial" panose="020B0604020202020204" pitchFamily="34" charset="0"/>
              <a:buChar char="•"/>
            </a:pPr>
            <a:r>
              <a:rPr lang="en-US" sz="1300" dirty="0">
                <a:solidFill>
                  <a:srgbClr val="1A1A2E"/>
                </a:solidFill>
                <a:latin typeface="Arial" panose="020B0604020202020204" pitchFamily="34" charset="0"/>
                <a:ea typeface="Calibri" pitchFamily="34" charset="-122"/>
                <a:cs typeface="Arial" panose="020B0604020202020204" pitchFamily="34" charset="0"/>
              </a:rPr>
              <a:t>Department‑wise salary distribution</a:t>
            </a:r>
          </a:p>
          <a:p>
            <a:pPr marL="285750" indent="-285750">
              <a:buFont typeface="Arial" panose="020B0604020202020204" pitchFamily="34" charset="0"/>
              <a:buChar char="•"/>
            </a:pPr>
            <a:r>
              <a:rPr lang="en-US" sz="1300" dirty="0">
                <a:solidFill>
                  <a:srgbClr val="1A1A2E"/>
                </a:solidFill>
                <a:latin typeface="Arial" panose="020B0604020202020204" pitchFamily="34" charset="0"/>
                <a:ea typeface="Calibri" pitchFamily="34" charset="-122"/>
                <a:cs typeface="Arial" panose="020B0604020202020204" pitchFamily="34" charset="0"/>
              </a:rPr>
              <a:t>Overtime &amp; bonus analytics</a:t>
            </a:r>
          </a:p>
          <a:p>
            <a:pPr marL="285750" indent="-285750">
              <a:buFont typeface="Arial" panose="020B0604020202020204" pitchFamily="34" charset="0"/>
              <a:buChar char="•"/>
            </a:pPr>
            <a:r>
              <a:rPr lang="en-US" sz="1300" dirty="0">
                <a:solidFill>
                  <a:srgbClr val="1A1A2E"/>
                </a:solidFill>
                <a:latin typeface="Arial" panose="020B0604020202020204" pitchFamily="34" charset="0"/>
                <a:ea typeface="Calibri" pitchFamily="34" charset="-122"/>
                <a:cs typeface="Arial" panose="020B0604020202020204" pitchFamily="34" charset="0"/>
              </a:rPr>
              <a:t>Top earners and deduction insights</a:t>
            </a:r>
          </a:p>
          <a:p>
            <a:pPr marL="285750" indent="-285750">
              <a:buFont typeface="Arial" panose="020B0604020202020204" pitchFamily="34" charset="0"/>
              <a:buChar char="•"/>
            </a:pPr>
            <a:r>
              <a:rPr lang="en-US" sz="1300" dirty="0">
                <a:solidFill>
                  <a:srgbClr val="1A1A2E"/>
                </a:solidFill>
                <a:latin typeface="Arial" panose="020B0604020202020204" pitchFamily="34" charset="0"/>
                <a:ea typeface="Calibri" pitchFamily="34" charset="-122"/>
                <a:cs typeface="Arial" panose="020B0604020202020204" pitchFamily="34" charset="0"/>
              </a:rPr>
              <a:t>Interactive KPI charts and compliance‑ready reports for HR and Finance decision‑making.</a:t>
            </a:r>
            <a:endParaRPr lang="en-US" sz="13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7E4D2CD-64E5-109C-2CA7-F75BCE8ECCAA}"/>
              </a:ext>
            </a:extLst>
          </p:cNvPr>
          <p:cNvSpPr txBox="1"/>
          <p:nvPr/>
        </p:nvSpPr>
        <p:spPr>
          <a:xfrm>
            <a:off x="189688" y="1700400"/>
            <a:ext cx="4114800" cy="1092607"/>
          </a:xfrm>
          <a:prstGeom prst="rect">
            <a:avLst/>
          </a:prstGeom>
          <a:noFill/>
        </p:spPr>
        <p:txBody>
          <a:bodyPr wrap="square" rtlCol="0">
            <a:spAutoFit/>
          </a:bodyPr>
          <a:lstStyle/>
          <a:p>
            <a:pPr marL="285750"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Payroll dataset with 500+ employee records (basic pay, allowances, overtime, bonuses, deductions, gross &amp; net salary).</a:t>
            </a:r>
          </a:p>
          <a:p>
            <a:pPr marL="285750"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Imported and cleaned in </a:t>
            </a:r>
            <a:r>
              <a:rPr lang="en-US" sz="1300" b="1" dirty="0">
                <a:latin typeface="Arial" panose="020B0604020202020204" pitchFamily="34" charset="0"/>
                <a:cs typeface="Arial" panose="020B0604020202020204" pitchFamily="34" charset="0"/>
              </a:rPr>
              <a:t>Microsoft Excel </a:t>
            </a:r>
            <a:r>
              <a:rPr lang="en-US" sz="1300" dirty="0">
                <a:latin typeface="Arial" panose="020B0604020202020204" pitchFamily="34" charset="0"/>
                <a:cs typeface="Arial" panose="020B0604020202020204" pitchFamily="34" charset="0"/>
              </a:rPr>
              <a:t>for consistency and accuracy.</a:t>
            </a:r>
            <a:endParaRPr lang="en-IN" sz="1300"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dirty="0">
              <a:latin typeface="Lato" panose="020F0502020204030203" pitchFamily="34" charset="0"/>
            </a:endParaRPr>
          </a:p>
        </p:txBody>
      </p:sp>
      <p:sp>
        <p:nvSpPr>
          <p:cNvPr id="9" name="Shape 7"/>
          <p:cNvSpPr/>
          <p:nvPr/>
        </p:nvSpPr>
        <p:spPr>
          <a:xfrm>
            <a:off x="214884" y="2196876"/>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25" name="Picture 24">
            <a:extLst>
              <a:ext uri="{FF2B5EF4-FFF2-40B4-BE49-F238E27FC236}">
                <a16:creationId xmlns:a16="http://schemas.microsoft.com/office/drawing/2014/main" id="{C8D47339-EE61-B124-847B-11F29B52A7E7}"/>
              </a:ext>
            </a:extLst>
          </p:cNvPr>
          <p:cNvPicPr>
            <a:picLocks noChangeAspect="1"/>
          </p:cNvPicPr>
          <p:nvPr/>
        </p:nvPicPr>
        <p:blipFill>
          <a:blip r:embed="rId4"/>
          <a:stretch>
            <a:fillRect/>
          </a:stretch>
        </p:blipFill>
        <p:spPr>
          <a:xfrm>
            <a:off x="214884" y="3203200"/>
            <a:ext cx="2788920" cy="1068319"/>
          </a:xfrm>
          <a:prstGeom prst="rect">
            <a:avLst/>
          </a:prstGeom>
        </p:spPr>
      </p:pic>
      <p:sp>
        <p:nvSpPr>
          <p:cNvPr id="26" name="TextBox 25">
            <a:extLst>
              <a:ext uri="{FF2B5EF4-FFF2-40B4-BE49-F238E27FC236}">
                <a16:creationId xmlns:a16="http://schemas.microsoft.com/office/drawing/2014/main" id="{AF3AF720-D6E0-2B6E-CC17-538C940A8299}"/>
              </a:ext>
            </a:extLst>
          </p:cNvPr>
          <p:cNvSpPr txBox="1"/>
          <p:nvPr/>
        </p:nvSpPr>
        <p:spPr>
          <a:xfrm>
            <a:off x="411480" y="4450080"/>
            <a:ext cx="244348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Top Earners Dashboard</a:t>
            </a:r>
            <a:endParaRPr lang="en-IN" sz="1400" dirty="0">
              <a:latin typeface="Arial" panose="020B0604020202020204" pitchFamily="34" charset="0"/>
              <a:cs typeface="Arial" panose="020B0604020202020204" pitchFamily="34" charset="0"/>
            </a:endParaRPr>
          </a:p>
        </p:txBody>
      </p:sp>
      <p:pic>
        <p:nvPicPr>
          <p:cNvPr id="28" name="Picture 27">
            <a:extLst>
              <a:ext uri="{FF2B5EF4-FFF2-40B4-BE49-F238E27FC236}">
                <a16:creationId xmlns:a16="http://schemas.microsoft.com/office/drawing/2014/main" id="{6087406C-F509-F559-2774-98F6921D6737}"/>
              </a:ext>
            </a:extLst>
          </p:cNvPr>
          <p:cNvPicPr>
            <a:picLocks noChangeAspect="1"/>
          </p:cNvPicPr>
          <p:nvPr/>
        </p:nvPicPr>
        <p:blipFill>
          <a:blip r:embed="rId5"/>
          <a:stretch>
            <a:fillRect/>
          </a:stretch>
        </p:blipFill>
        <p:spPr>
          <a:xfrm>
            <a:off x="3227669" y="2987761"/>
            <a:ext cx="2779939" cy="976903"/>
          </a:xfrm>
          <a:prstGeom prst="rect">
            <a:avLst/>
          </a:prstGeom>
        </p:spPr>
      </p:pic>
      <p:sp>
        <p:nvSpPr>
          <p:cNvPr id="29" name="TextBox 28">
            <a:extLst>
              <a:ext uri="{FF2B5EF4-FFF2-40B4-BE49-F238E27FC236}">
                <a16:creationId xmlns:a16="http://schemas.microsoft.com/office/drawing/2014/main" id="{5E842C06-23DA-E808-3DF0-9F2A941118BB}"/>
              </a:ext>
            </a:extLst>
          </p:cNvPr>
          <p:cNvSpPr txBox="1"/>
          <p:nvPr/>
        </p:nvSpPr>
        <p:spPr>
          <a:xfrm>
            <a:off x="3496310" y="4291438"/>
            <a:ext cx="217424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Overtime Insights</a:t>
            </a:r>
            <a:endParaRPr lang="en-IN" sz="1400" dirty="0">
              <a:latin typeface="Arial" panose="020B0604020202020204" pitchFamily="34" charset="0"/>
              <a:cs typeface="Arial" panose="020B0604020202020204" pitchFamily="34" charset="0"/>
            </a:endParaRPr>
          </a:p>
        </p:txBody>
      </p:sp>
      <p:pic>
        <p:nvPicPr>
          <p:cNvPr id="31" name="Picture 30">
            <a:extLst>
              <a:ext uri="{FF2B5EF4-FFF2-40B4-BE49-F238E27FC236}">
                <a16:creationId xmlns:a16="http://schemas.microsoft.com/office/drawing/2014/main" id="{741DACC1-30BA-A47C-3023-DE2458FFEE9E}"/>
              </a:ext>
            </a:extLst>
          </p:cNvPr>
          <p:cNvPicPr>
            <a:picLocks noChangeAspect="1"/>
          </p:cNvPicPr>
          <p:nvPr/>
        </p:nvPicPr>
        <p:blipFill>
          <a:blip r:embed="rId6"/>
          <a:stretch>
            <a:fillRect/>
          </a:stretch>
        </p:blipFill>
        <p:spPr>
          <a:xfrm>
            <a:off x="6186932" y="3038087"/>
            <a:ext cx="2742184" cy="990751"/>
          </a:xfrm>
          <a:prstGeom prst="rect">
            <a:avLst/>
          </a:prstGeom>
        </p:spPr>
      </p:pic>
      <p:sp>
        <p:nvSpPr>
          <p:cNvPr id="32" name="TextBox 31">
            <a:extLst>
              <a:ext uri="{FF2B5EF4-FFF2-40B4-BE49-F238E27FC236}">
                <a16:creationId xmlns:a16="http://schemas.microsoft.com/office/drawing/2014/main" id="{AA7AE9C7-6C85-D9CE-2266-2F9773542D0A}"/>
              </a:ext>
            </a:extLst>
          </p:cNvPr>
          <p:cNvSpPr txBox="1"/>
          <p:nvPr/>
        </p:nvSpPr>
        <p:spPr>
          <a:xfrm>
            <a:off x="6471920" y="4378960"/>
            <a:ext cx="2342896" cy="523220"/>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Salary Component Breakdown</a:t>
            </a:r>
            <a:endParaRPr lang="en-IN" sz="1400" dirty="0">
              <a:latin typeface="Arial" panose="020B0604020202020204" pitchFamily="34" charset="0"/>
              <a:cs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981"/>
    </mc:Choice>
    <mc:Fallback xmlns="">
      <p:transition spd="slow" advTm="5698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41148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r>
              <a:rPr lang="en-IN" sz="1100" dirty="0">
                <a:hlinkClick r:id="rId4"/>
              </a:rPr>
              <a:t>https://drive.google.com/drive/folders/1cLfXVnzroVGITwH7DL3bzR9n97L4IDyP</a:t>
            </a:r>
            <a:endParaRPr lang="en-IN" sz="1100" dirty="0"/>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dirty="0"/>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
        <p:nvSpPr>
          <p:cNvPr id="3" name="TextBox 2">
            <a:extLst>
              <a:ext uri="{FF2B5EF4-FFF2-40B4-BE49-F238E27FC236}">
                <a16:creationId xmlns:a16="http://schemas.microsoft.com/office/drawing/2014/main" id="{343FD942-5C08-1FF4-0EED-8B55B1E2322C}"/>
              </a:ext>
            </a:extLst>
          </p:cNvPr>
          <p:cNvSpPr txBox="1"/>
          <p:nvPr/>
        </p:nvSpPr>
        <p:spPr>
          <a:xfrm>
            <a:off x="223520" y="1410462"/>
            <a:ext cx="4348479" cy="2308324"/>
          </a:xfrm>
          <a:prstGeom prst="rect">
            <a:avLst/>
          </a:prstGeom>
          <a:noFill/>
        </p:spPr>
        <p:txBody>
          <a:bodyPr wrap="square">
            <a:spAutoFit/>
          </a:bodyPr>
          <a:lstStyle/>
          <a:p>
            <a:pPr marL="285750" indent="-285750">
              <a:buFont typeface="Arial" panose="020B0604020202020204" pitchFamily="34" charset="0"/>
              <a:buChar char="•"/>
            </a:pPr>
            <a:r>
              <a:rPr lang="en-IN" dirty="0"/>
              <a:t>Data cleaning improved payroll accuracy and compliance.</a:t>
            </a:r>
          </a:p>
          <a:p>
            <a:pPr marL="285750" indent="-285750">
              <a:buFont typeface="Arial" panose="020B0604020202020204" pitchFamily="34" charset="0"/>
              <a:buChar char="•"/>
            </a:pPr>
            <a:r>
              <a:rPr lang="en-IN" dirty="0"/>
              <a:t>Dashboards provided transparency into workforce costs.</a:t>
            </a:r>
          </a:p>
          <a:p>
            <a:pPr marL="285750" indent="-285750">
              <a:buFont typeface="Arial" panose="020B0604020202020204" pitchFamily="34" charset="0"/>
              <a:buChar char="•"/>
            </a:pPr>
            <a:r>
              <a:rPr lang="en-IN" dirty="0"/>
              <a:t>AI-assisted workflows saved time and ensured reproducibility.</a:t>
            </a:r>
          </a:p>
          <a:p>
            <a:pPr marL="285750" indent="-285750">
              <a:buFont typeface="Arial" panose="020B0604020202020204" pitchFamily="34" charset="0"/>
              <a:buChar char="•"/>
            </a:pPr>
            <a:r>
              <a:rPr lang="en-IN" dirty="0"/>
              <a:t>Objectives achieved: validated dataset, KPI framework, actionable insights.</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
        <p:nvSpPr>
          <p:cNvPr id="5" name="TextBox 4">
            <a:extLst>
              <a:ext uri="{FF2B5EF4-FFF2-40B4-BE49-F238E27FC236}">
                <a16:creationId xmlns:a16="http://schemas.microsoft.com/office/drawing/2014/main" id="{98F6B9D9-CB3E-8311-9116-FD9370EE89B0}"/>
              </a:ext>
            </a:extLst>
          </p:cNvPr>
          <p:cNvSpPr txBox="1"/>
          <p:nvPr/>
        </p:nvSpPr>
        <p:spPr>
          <a:xfrm>
            <a:off x="123248" y="1082104"/>
            <a:ext cx="4204912" cy="2308324"/>
          </a:xfrm>
          <a:prstGeom prst="rect">
            <a:avLst/>
          </a:prstGeom>
          <a:noFill/>
        </p:spPr>
        <p:txBody>
          <a:bodyPr wrap="square">
            <a:spAutoFit/>
          </a:bodyPr>
          <a:lstStyle/>
          <a:p>
            <a:pPr marL="285750" indent="-285750">
              <a:buFont typeface="Arial" panose="020B0604020202020204" pitchFamily="34" charset="0"/>
              <a:buChar char="•"/>
            </a:pPr>
            <a:r>
              <a:rPr lang="en-US" dirty="0"/>
              <a:t>Integration with real-time payroll systems.</a:t>
            </a:r>
          </a:p>
          <a:p>
            <a:pPr marL="285750" indent="-285750">
              <a:buFont typeface="Arial" panose="020B0604020202020204" pitchFamily="34" charset="0"/>
              <a:buChar char="•"/>
            </a:pPr>
            <a:r>
              <a:rPr lang="en-US" dirty="0"/>
              <a:t>Expansion into predictive analytics (spending demand, churn prediction).</a:t>
            </a:r>
          </a:p>
          <a:p>
            <a:pPr marL="285750" indent="-285750">
              <a:buFont typeface="Arial" panose="020B0604020202020204" pitchFamily="34" charset="0"/>
              <a:buChar char="•"/>
            </a:pPr>
            <a:r>
              <a:rPr lang="en-US" dirty="0"/>
              <a:t>Enhanced personalization via customer segmentation.</a:t>
            </a:r>
          </a:p>
          <a:p>
            <a:pPr marL="285750" indent="-285750">
              <a:buFont typeface="Arial" panose="020B0604020202020204" pitchFamily="34" charset="0"/>
              <a:buChar char="•"/>
            </a:pPr>
            <a:r>
              <a:rPr lang="en-US" dirty="0"/>
              <a:t>Scalability with Power BI and advanced AI models.</a:t>
            </a:r>
            <a:endParaRPr lang="en-IN"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1044</TotalTime>
  <Words>943</Words>
  <Application>Microsoft Office PowerPoint</Application>
  <PresentationFormat>On-screen Show (16:9)</PresentationFormat>
  <Paragraphs>106</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Courier New</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Srijoni Gupta</cp:lastModifiedBy>
  <cp:revision>53</cp:revision>
  <dcterms:created xsi:type="dcterms:W3CDTF">2026-02-18T09:17:23Z</dcterms:created>
  <dcterms:modified xsi:type="dcterms:W3CDTF">2026-04-16T14:24:00Z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